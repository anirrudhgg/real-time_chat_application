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40"/>
  </p:normalViewPr>
  <p:slideViewPr>
    <p:cSldViewPr snapToGrid="0">
      <p:cViewPr varScale="1">
        <p:scale>
          <a:sx n="102" d="100"/>
          <a:sy n="10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3FFC9-54F3-6F46-BFF0-702066136F0E}" type="datetimeFigureOut">
              <a:rPr lang="en-DE" smtClean="0"/>
              <a:t>22.06.26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FE188-526D-324C-BF39-47985D46910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096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E188-526D-324C-BF39-47985D469108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9864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5FE188-526D-324C-BF39-47985D469108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44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products/calculator?dl=CjhDaVE0T0dJMk1USTJPUzAyTVRGaUxUUTVNMlV0WVRObU5pMWpOVGc0TmpJeU5EazRaRGNRQVE9PRAOGiRBRTM0OEJCNC1BQTNCLTREMjAtODc4QS1EQTgyQkVENUVGOUE" TargetMode="External"/><Relationship Id="rId2" Type="http://schemas.openxmlformats.org/officeDocument/2006/relationships/hyperlink" Target="https://cloud.google.com/products/calculator?dl=CjhDaVJsTnpjeU16Z3laQzA0WXpJekxUUTBOMkl0WVRVMk5pMDROamMyT0dRMlpqZzFZVFVRQVE9PRAXGiQ2OTZBQTA1RC1DMUU2LTRGRUMtQjNBMi1FOTE1MTc1ODMwMj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roject-6c2cad9e-c127-49a4-aa1.ey.r.appspot.com/" TargetMode="External"/><Relationship Id="rId4" Type="http://schemas.openxmlformats.org/officeDocument/2006/relationships/hyperlink" Target="https://github.com/anirrudhgg/Real-Time_Chat_Appli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7665-3754-8F80-E2D1-787EF8920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Arial" panose="020B0604020202020204" pitchFamily="34" charset="0"/>
              </a:rPr>
              <a:t>S</a:t>
            </a:r>
            <a:r>
              <a:rPr lang="en-DE" dirty="0">
                <a:latin typeface="+mn-lt"/>
                <a:cs typeface="Arial" panose="020B0604020202020204" pitchFamily="34" charset="0"/>
              </a:rPr>
              <a:t>erverless </a:t>
            </a:r>
            <a:r>
              <a:rPr lang="en-DE" dirty="0">
                <a:solidFill>
                  <a:schemeClr val="accent2"/>
                </a:solidFill>
                <a:latin typeface="+mn-lt"/>
                <a:cs typeface="Arial" panose="020B0604020202020204" pitchFamily="34" charset="0"/>
              </a:rPr>
              <a:t>real-time</a:t>
            </a:r>
            <a:r>
              <a:rPr lang="en-DE" dirty="0">
                <a:latin typeface="+mn-lt"/>
                <a:cs typeface="Arial" panose="020B0604020202020204" pitchFamily="34" charset="0"/>
              </a:rPr>
              <a:t>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69B18-99E2-26D4-D36A-8F6FFB0BA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964964"/>
          </a:xfrm>
        </p:spPr>
        <p:txBody>
          <a:bodyPr>
            <a:normAutofit lnSpcReduction="10000"/>
          </a:bodyPr>
          <a:lstStyle/>
          <a:p>
            <a:r>
              <a:rPr lang="en-DE" dirty="0"/>
              <a:t>A </a:t>
            </a:r>
            <a:r>
              <a:rPr lang="en-DE" dirty="0">
                <a:solidFill>
                  <a:schemeClr val="accent2"/>
                </a:solidFill>
              </a:rPr>
              <a:t>real-time</a:t>
            </a:r>
            <a:r>
              <a:rPr lang="en-DE" dirty="0"/>
              <a:t> chat </a:t>
            </a:r>
            <a:r>
              <a:rPr lang="en-DE" dirty="0">
                <a:solidFill>
                  <a:schemeClr val="accent2"/>
                </a:solidFill>
              </a:rPr>
              <a:t>application</a:t>
            </a:r>
          </a:p>
          <a:p>
            <a:r>
              <a:rPr lang="en-DE" dirty="0"/>
              <a:t>Team: Anirudh </a:t>
            </a:r>
            <a:r>
              <a:rPr lang="en-DE" dirty="0">
                <a:solidFill>
                  <a:schemeClr val="accent2"/>
                </a:solidFill>
              </a:rPr>
              <a:t>100001238</a:t>
            </a:r>
          </a:p>
          <a:p>
            <a:r>
              <a:rPr lang="en-DE" dirty="0"/>
              <a:t>Hussein </a:t>
            </a:r>
            <a:r>
              <a:rPr lang="en-DE" dirty="0">
                <a:solidFill>
                  <a:schemeClr val="accent2"/>
                </a:solidFill>
              </a:rPr>
              <a:t>100001223  </a:t>
            </a:r>
          </a:p>
          <a:p>
            <a:r>
              <a:rPr lang="en-DE" dirty="0"/>
              <a:t>Felipe </a:t>
            </a:r>
            <a:r>
              <a:rPr lang="en-DE" dirty="0">
                <a:solidFill>
                  <a:schemeClr val="accent2"/>
                </a:solidFill>
              </a:rPr>
              <a:t>100003518</a:t>
            </a:r>
          </a:p>
          <a:p>
            <a:r>
              <a:rPr lang="en-DE" dirty="0"/>
              <a:t>Yohan </a:t>
            </a:r>
            <a:r>
              <a:rPr lang="en-DE" dirty="0">
                <a:solidFill>
                  <a:schemeClr val="accent2"/>
                </a:solidFill>
              </a:rPr>
              <a:t>100002925</a:t>
            </a:r>
          </a:p>
        </p:txBody>
      </p:sp>
    </p:spTree>
    <p:extLst>
      <p:ext uri="{BB962C8B-B14F-4D97-AF65-F5344CB8AC3E}">
        <p14:creationId xmlns:p14="http://schemas.microsoft.com/office/powerpoint/2010/main" val="158492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1099-631A-76C5-C6C4-2DC2CF9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DE" dirty="0"/>
              <a:t>The </a:t>
            </a:r>
            <a:r>
              <a:rPr lang="en-DE" dirty="0">
                <a:solidFill>
                  <a:schemeClr val="accent2"/>
                </a:solidFill>
              </a:rPr>
              <a:t>Problem</a:t>
            </a:r>
            <a:r>
              <a:rPr lang="en-DE" dirty="0"/>
              <a:t>: The </a:t>
            </a:r>
            <a:r>
              <a:rPr lang="en-DE" dirty="0">
                <a:solidFill>
                  <a:schemeClr val="accent2"/>
                </a:solidFill>
              </a:rPr>
              <a:t>http</a:t>
            </a:r>
            <a:r>
              <a:rPr lang="en-DE" dirty="0"/>
              <a:t> Bottleneck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6F58-6E68-279F-6721-FC95B937C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dirty="0"/>
              <a:t>For the </a:t>
            </a:r>
            <a:r>
              <a:rPr lang="en-DE" dirty="0">
                <a:solidFill>
                  <a:schemeClr val="accent2"/>
                </a:solidFill>
              </a:rPr>
              <a:t>ShopWorld</a:t>
            </a:r>
            <a:r>
              <a:rPr lang="en-DE" dirty="0"/>
              <a:t> example,</a:t>
            </a:r>
          </a:p>
          <a:p>
            <a:r>
              <a:rPr lang="en-DE" dirty="0"/>
              <a:t>HTTP Polling causes constant CPU Burn.</a:t>
            </a:r>
          </a:p>
          <a:p>
            <a:r>
              <a:rPr lang="en-DE" dirty="0"/>
              <a:t>No Dynamic Scaling leads to downtime.</a:t>
            </a:r>
          </a:p>
          <a:p>
            <a:r>
              <a:rPr lang="en-DE" dirty="0"/>
              <a:t>Site Outages during high traffic.</a:t>
            </a:r>
          </a:p>
          <a:p>
            <a:r>
              <a:rPr lang="en-DE" dirty="0"/>
              <a:t>Revenue losses during peak traffic.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D7F46-7D4F-F89D-2AF7-CF0C0991F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564924"/>
            <a:ext cx="6095593" cy="356592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263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E7AC-C1FD-9B3A-6D63-93287F37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49" y="-2017247"/>
            <a:ext cx="11829341" cy="5571072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System</a:t>
            </a:r>
            <a:r>
              <a:rPr lang="en-DE" dirty="0"/>
              <a:t> architecture on </a:t>
            </a:r>
            <a:r>
              <a:rPr lang="en-DE" dirty="0">
                <a:solidFill>
                  <a:schemeClr val="accent2"/>
                </a:solidFill>
              </a:rPr>
              <a:t>google cloud </a:t>
            </a:r>
            <a:r>
              <a:rPr lang="en-DE" dirty="0"/>
              <a:t>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CC2B3-5066-8D26-9A5B-ADD820BAA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38" y="1260557"/>
            <a:ext cx="6838883" cy="3731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dirty="0"/>
              <a:t>Why Cloud? </a:t>
            </a:r>
          </a:p>
          <a:p>
            <a:r>
              <a:rPr lang="en-DE" dirty="0"/>
              <a:t>High Scalability </a:t>
            </a:r>
          </a:p>
          <a:p>
            <a:r>
              <a:rPr lang="en-DE" dirty="0"/>
              <a:t>Global Availability</a:t>
            </a:r>
          </a:p>
          <a:p>
            <a:r>
              <a:rPr lang="en-DE" dirty="0"/>
              <a:t>No On-Premises maintenance</a:t>
            </a:r>
          </a:p>
          <a:p>
            <a:r>
              <a:rPr lang="en-DE" dirty="0"/>
              <a:t>The Cloud Platform used is Google Cloud Platform (GCP)</a:t>
            </a:r>
          </a:p>
        </p:txBody>
      </p:sp>
      <p:pic>
        <p:nvPicPr>
          <p:cNvPr id="11" name="Graphic 10" descr="World with solid fill">
            <a:extLst>
              <a:ext uri="{FF2B5EF4-FFF2-40B4-BE49-F238E27FC236}">
                <a16:creationId xmlns:a16="http://schemas.microsoft.com/office/drawing/2014/main" id="{A3F51DD2-1707-D65C-66E2-3D6860E69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96" y="4869572"/>
            <a:ext cx="914400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72A0B1-A067-52BC-8904-046C84920BD2}"/>
              </a:ext>
            </a:extLst>
          </p:cNvPr>
          <p:cNvSpPr/>
          <p:nvPr/>
        </p:nvSpPr>
        <p:spPr>
          <a:xfrm>
            <a:off x="2278784" y="4832555"/>
            <a:ext cx="1739153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4" name="Graphic 13" descr="Shield Tick with solid fill">
            <a:extLst>
              <a:ext uri="{FF2B5EF4-FFF2-40B4-BE49-F238E27FC236}">
                <a16:creationId xmlns:a16="http://schemas.microsoft.com/office/drawing/2014/main" id="{8953AF72-52C7-C336-4C09-298AD10BDF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5277" y="4832555"/>
            <a:ext cx="914400" cy="914400"/>
          </a:xfrm>
          <a:prstGeom prst="rect">
            <a:avLst/>
          </a:prstGeom>
        </p:spPr>
      </p:pic>
      <p:pic>
        <p:nvPicPr>
          <p:cNvPr id="16" name="Graphic 15" descr="Cloud with solid fill">
            <a:extLst>
              <a:ext uri="{FF2B5EF4-FFF2-40B4-BE49-F238E27FC236}">
                <a16:creationId xmlns:a16="http://schemas.microsoft.com/office/drawing/2014/main" id="{D4E910C2-9B32-4264-83A9-AF011DA31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0422" y="4617403"/>
            <a:ext cx="1344704" cy="1344704"/>
          </a:xfrm>
          <a:prstGeom prst="rect">
            <a:avLst/>
          </a:prstGeom>
        </p:spPr>
      </p:pic>
      <p:pic>
        <p:nvPicPr>
          <p:cNvPr id="18" name="Graphic 17" descr="Database with solid fill">
            <a:extLst>
              <a:ext uri="{FF2B5EF4-FFF2-40B4-BE49-F238E27FC236}">
                <a16:creationId xmlns:a16="http://schemas.microsoft.com/office/drawing/2014/main" id="{9B072CAE-010B-0841-8C3B-155E05F85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87999" y="4832555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583F137-A3DE-6E96-4B49-DEF0800F2C4F}"/>
              </a:ext>
            </a:extLst>
          </p:cNvPr>
          <p:cNvSpPr txBox="1"/>
          <p:nvPr/>
        </p:nvSpPr>
        <p:spPr>
          <a:xfrm>
            <a:off x="89829" y="5849466"/>
            <a:ext cx="1362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Global 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98F86D-B18E-DCBC-AC66-534EF0815787}"/>
              </a:ext>
            </a:extLst>
          </p:cNvPr>
          <p:cNvSpPr txBox="1"/>
          <p:nvPr/>
        </p:nvSpPr>
        <p:spPr>
          <a:xfrm>
            <a:off x="1616467" y="5849466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Cloud Load Balancer/ CDN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147ABB-7FCB-773D-5924-07E34F2804B9}"/>
              </a:ext>
            </a:extLst>
          </p:cNvPr>
          <p:cNvSpPr txBox="1"/>
          <p:nvPr/>
        </p:nvSpPr>
        <p:spPr>
          <a:xfrm>
            <a:off x="4334101" y="5867824"/>
            <a:ext cx="311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Cloud Armor (DDoS Protection)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EC192C-EA91-3C83-29EB-7C994F266C01}"/>
              </a:ext>
            </a:extLst>
          </p:cNvPr>
          <p:cNvSpPr txBox="1"/>
          <p:nvPr/>
        </p:nvSpPr>
        <p:spPr>
          <a:xfrm>
            <a:off x="7765285" y="5608455"/>
            <a:ext cx="2116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App Engine </a:t>
            </a:r>
          </a:p>
          <a:p>
            <a:r>
              <a:rPr lang="en-DE" dirty="0"/>
              <a:t>(Serverless Backend)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11CD2E-549A-6704-9EEC-8A2D97969199}"/>
              </a:ext>
            </a:extLst>
          </p:cNvPr>
          <p:cNvSpPr txBox="1"/>
          <p:nvPr/>
        </p:nvSpPr>
        <p:spPr>
          <a:xfrm>
            <a:off x="10319238" y="5678905"/>
            <a:ext cx="1802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Firestore DB </a:t>
            </a:r>
          </a:p>
          <a:p>
            <a:r>
              <a:rPr lang="en-DE" dirty="0"/>
              <a:t>NoSQL Real-Time</a:t>
            </a:r>
          </a:p>
        </p:txBody>
      </p:sp>
      <p:sp>
        <p:nvSpPr>
          <p:cNvPr id="25" name="Frame 24">
            <a:extLst>
              <a:ext uri="{FF2B5EF4-FFF2-40B4-BE49-F238E27FC236}">
                <a16:creationId xmlns:a16="http://schemas.microsoft.com/office/drawing/2014/main" id="{77A6B735-26F5-FF66-C152-BC2613FE831C}"/>
              </a:ext>
            </a:extLst>
          </p:cNvPr>
          <p:cNvSpPr/>
          <p:nvPr/>
        </p:nvSpPr>
        <p:spPr>
          <a:xfrm>
            <a:off x="7498167" y="4617403"/>
            <a:ext cx="4693833" cy="1983813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B4E66C-3861-D141-9E7D-FC3F813DB298}"/>
              </a:ext>
            </a:extLst>
          </p:cNvPr>
          <p:cNvSpPr txBox="1"/>
          <p:nvPr/>
        </p:nvSpPr>
        <p:spPr>
          <a:xfrm>
            <a:off x="8129091" y="4248071"/>
            <a:ext cx="2702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Google C</a:t>
            </a:r>
            <a:r>
              <a:rPr lang="en-GB" dirty="0"/>
              <a:t>l</a:t>
            </a:r>
            <a:r>
              <a:rPr lang="en-DE" dirty="0"/>
              <a:t>oud Environment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DF5AFE99-7868-A41D-00DE-152076C63752}"/>
              </a:ext>
            </a:extLst>
          </p:cNvPr>
          <p:cNvSpPr/>
          <p:nvPr/>
        </p:nvSpPr>
        <p:spPr>
          <a:xfrm>
            <a:off x="1451933" y="5157236"/>
            <a:ext cx="619952" cy="334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252C575-5A57-7C2B-95B6-D7603A454D14}"/>
              </a:ext>
            </a:extLst>
          </p:cNvPr>
          <p:cNvSpPr/>
          <p:nvPr/>
        </p:nvSpPr>
        <p:spPr>
          <a:xfrm>
            <a:off x="4152555" y="5122257"/>
            <a:ext cx="1165706" cy="334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A9834BCD-7AA4-9FAD-8584-2A2759684FD0}"/>
              </a:ext>
            </a:extLst>
          </p:cNvPr>
          <p:cNvSpPr/>
          <p:nvPr/>
        </p:nvSpPr>
        <p:spPr>
          <a:xfrm>
            <a:off x="6559455" y="5122257"/>
            <a:ext cx="854922" cy="334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509A7385-1E23-7A23-4A8D-1D6F3EF1879D}"/>
              </a:ext>
            </a:extLst>
          </p:cNvPr>
          <p:cNvSpPr/>
          <p:nvPr/>
        </p:nvSpPr>
        <p:spPr>
          <a:xfrm>
            <a:off x="9218915" y="5122257"/>
            <a:ext cx="1182439" cy="3349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40198-EFAF-D2DE-9050-8B0D329AB5C6}"/>
              </a:ext>
            </a:extLst>
          </p:cNvPr>
          <p:cNvSpPr txBox="1"/>
          <p:nvPr/>
        </p:nvSpPr>
        <p:spPr>
          <a:xfrm>
            <a:off x="9259244" y="4900606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Phase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345DBD-0ADE-1EC4-4A76-A84BDB0B2EB4}"/>
              </a:ext>
            </a:extLst>
          </p:cNvPr>
          <p:cNvSpPr txBox="1"/>
          <p:nvPr/>
        </p:nvSpPr>
        <p:spPr>
          <a:xfrm>
            <a:off x="9335931" y="5324735"/>
            <a:ext cx="76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347979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330A-C159-C686-B573-1F6BFD62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>
                <a:solidFill>
                  <a:schemeClr val="accent2"/>
                </a:solidFill>
              </a:rPr>
              <a:t>Computing</a:t>
            </a:r>
            <a:r>
              <a:rPr lang="en-DE"/>
              <a:t> and </a:t>
            </a:r>
            <a:r>
              <a:rPr lang="en-DE">
                <a:solidFill>
                  <a:schemeClr val="accent2"/>
                </a:solidFill>
              </a:rPr>
              <a:t>data</a:t>
            </a:r>
            <a:r>
              <a:rPr lang="en-DE"/>
              <a:t> strategy</a:t>
            </a:r>
            <a:endParaRPr lang="en-DE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5D66EF1-AF35-165A-1F9B-EDC930117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909484"/>
              </p:ext>
            </p:extLst>
          </p:nvPr>
        </p:nvGraphicFramePr>
        <p:xfrm>
          <a:off x="685800" y="2141537"/>
          <a:ext cx="10131424" cy="374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5712">
                  <a:extLst>
                    <a:ext uri="{9D8B030D-6E8A-4147-A177-3AD203B41FA5}">
                      <a16:colId xmlns:a16="http://schemas.microsoft.com/office/drawing/2014/main" val="2601187770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917638209"/>
                    </a:ext>
                  </a:extLst>
                </a:gridCol>
              </a:tblGrid>
              <a:tr h="749139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App Engine (Cloud Resource)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FireStore (NoSQL Real-Time Database)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77826"/>
                  </a:ext>
                </a:extLst>
              </a:tr>
              <a:tr h="749139">
                <a:tc>
                  <a:txBody>
                    <a:bodyPr/>
                    <a:lstStyle/>
                    <a:p>
                      <a:r>
                        <a:rPr lang="en-DE" dirty="0"/>
                        <a:t>Serverless.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Native real-time data push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684792"/>
                  </a:ext>
                </a:extLst>
              </a:tr>
              <a:tr h="749139">
                <a:tc>
                  <a:txBody>
                    <a:bodyPr/>
                    <a:lstStyle/>
                    <a:p>
                      <a:r>
                        <a:rPr lang="en-DE" dirty="0"/>
                        <a:t>Auto-Scaling based on traffic demand.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Replace legacy SQL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639072"/>
                  </a:ext>
                </a:extLst>
              </a:tr>
              <a:tr h="749139">
                <a:tc>
                  <a:txBody>
                    <a:bodyPr/>
                    <a:lstStyle/>
                    <a:p>
                      <a:r>
                        <a:rPr lang="en-DE" dirty="0"/>
                        <a:t>No overhead Kubernetes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Clients rec</a:t>
                      </a:r>
                      <a:r>
                        <a:rPr lang="en-GB" dirty="0" err="1"/>
                        <a:t>ei</a:t>
                      </a:r>
                      <a:r>
                        <a:rPr lang="en-DE" dirty="0"/>
                        <a:t>ve instant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381578"/>
                  </a:ext>
                </a:extLst>
              </a:tr>
              <a:tr h="749139">
                <a:tc>
                  <a:txBody>
                    <a:bodyPr/>
                    <a:lstStyle/>
                    <a:p>
                      <a:r>
                        <a:rPr lang="en-DE" dirty="0"/>
                        <a:t>Preferred over Google Kubernetes Engine (GKE) for simplicity.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Ideal for chat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55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DA4E-D585-1C6E-D88E-44AE6FA2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282266" cy="1456267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Security</a:t>
            </a:r>
            <a:r>
              <a:rPr lang="en-DE" dirty="0"/>
              <a:t> and </a:t>
            </a:r>
            <a:r>
              <a:rPr lang="en-DE" dirty="0">
                <a:solidFill>
                  <a:schemeClr val="accent2"/>
                </a:solidFill>
              </a:rPr>
              <a:t>Global</a:t>
            </a:r>
            <a:r>
              <a:rPr lang="en-DE" dirty="0"/>
              <a:t>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7F1D-62FE-93D8-0AEA-D20D599D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accent2"/>
                </a:solidFill>
              </a:rPr>
              <a:t>Zero Trust Architecture: </a:t>
            </a:r>
            <a:r>
              <a:rPr lang="en-DE" dirty="0"/>
              <a:t>Implementing Zero Trust ensures there’s no implicit trust for any request, This secures the backend.</a:t>
            </a:r>
          </a:p>
          <a:p>
            <a:r>
              <a:rPr lang="en-DE" dirty="0">
                <a:solidFill>
                  <a:schemeClr val="accent2"/>
                </a:solidFill>
              </a:rPr>
              <a:t>Edge Security: </a:t>
            </a:r>
            <a:r>
              <a:rPr lang="en-DE" dirty="0"/>
              <a:t>Cloud armor acts as a Web Application Firewall (WAF) mitigating DDoS attacks before they can hit our serverless backend.</a:t>
            </a:r>
          </a:p>
          <a:p>
            <a:r>
              <a:rPr lang="en-DE" dirty="0">
                <a:solidFill>
                  <a:schemeClr val="accent2"/>
                </a:solidFill>
              </a:rPr>
              <a:t>Reduced Global latency: </a:t>
            </a:r>
            <a:r>
              <a:rPr lang="en-DE" dirty="0"/>
              <a:t>Cloud Load Balancing and Cloud CDN cache assets at google’s edge nodes, This helps with the international latency issues.</a:t>
            </a:r>
          </a:p>
          <a:p>
            <a:endParaRPr lang="en-DE" dirty="0"/>
          </a:p>
        </p:txBody>
      </p:sp>
      <p:pic>
        <p:nvPicPr>
          <p:cNvPr id="4" name="Graphic 3" descr="Shield Tick with solid fill">
            <a:extLst>
              <a:ext uri="{FF2B5EF4-FFF2-40B4-BE49-F238E27FC236}">
                <a16:creationId xmlns:a16="http://schemas.microsoft.com/office/drawing/2014/main" id="{6FE4FB13-55BB-4017-CE5D-4A71FC926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0936" y="1668042"/>
            <a:ext cx="3445714" cy="3445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338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5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78BAE4-8B08-E807-5230-E37EE2D1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208642"/>
            <a:ext cx="4529422" cy="26010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accent2"/>
                </a:solidFill>
              </a:rPr>
              <a:t>FINOPS</a:t>
            </a:r>
            <a:r>
              <a:rPr lang="en-US" sz="4800" dirty="0"/>
              <a:t> and </a:t>
            </a:r>
            <a:r>
              <a:rPr lang="en-US" sz="4800" dirty="0">
                <a:solidFill>
                  <a:schemeClr val="accent2"/>
                </a:solidFill>
              </a:rPr>
              <a:t>Cost</a:t>
            </a:r>
            <a:r>
              <a:rPr lang="en-US" sz="4800" dirty="0"/>
              <a:t> estimation</a:t>
            </a:r>
          </a:p>
        </p:txBody>
      </p:sp>
      <p:sp>
        <p:nvSpPr>
          <p:cNvPr id="97" name="Freeform 5">
            <a:extLst>
              <a:ext uri="{FF2B5EF4-FFF2-40B4-BE49-F238E27FC236}">
                <a16:creationId xmlns:a16="http://schemas.microsoft.com/office/drawing/2014/main" id="{DEFFE32C-536F-4C27-BB3B-21D9562FB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AED0E-A935-596F-D389-91D14A5433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801" r="-3" b="-3"/>
          <a:stretch>
            <a:fillRect/>
          </a:stretch>
        </p:blipFill>
        <p:spPr>
          <a:xfrm>
            <a:off x="6583389" y="2270026"/>
            <a:ext cx="2831770" cy="3945263"/>
          </a:xfrm>
          <a:prstGeom prst="rect">
            <a:avLst/>
          </a:prstGeom>
        </p:spPr>
      </p:pic>
      <p:sp>
        <p:nvSpPr>
          <p:cNvPr id="98" name="Freeform 14">
            <a:extLst>
              <a:ext uri="{FF2B5EF4-FFF2-40B4-BE49-F238E27FC236}">
                <a16:creationId xmlns:a16="http://schemas.microsoft.com/office/drawing/2014/main" id="{0A3ADEF0-82C7-41D5-9A0C-E8C958CB3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20AC61-040A-45E7-BF6A-4DB4A01E6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3F31827-B7E8-4613-853F-EB717E68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747853-E25C-498E-B2A6-481E79EA1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0A7608C-4718-4D9C-B063-EAC0A26D6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1B399A-6BFC-4459-9EBD-5940FA9B9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872574B-2A08-4213-8587-370BE9645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F2B0DF-E863-4D00-92C3-388CF960B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913D0F7-F64C-4E37-BD27-87ACFF256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FA9B3-8DC1-41B2-83B8-17A6B421D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073FF4F-5C38-479C-9C7E-933EAF635B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2E1FE4-B831-40C8-985C-E9A9E3E18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58F03E-9544-4881-AD49-4CEDAEE1C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F85AE24-7C65-48F7-82D8-09EFD3EA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09C6449-0032-43F2-A7AA-F21EC9212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F72AACB-C576-47CF-A576-1B3605F61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0766AB-289D-4399-BAC1-554AE2CA1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32EB6-70DA-4EB9-8E66-092B75FE6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C12F99-F7D5-4804-834C-1EC8BA3A3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AD835D9-6217-429E-A5E8-7E4CD5FA6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DDCE01D-98E5-435F-BE88-46C1F26CC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3DCA9BE-C827-4C78-8F95-4BA594E8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A957AC-6A5E-4B4D-8124-88CF5099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CDF42E0-BD87-4140-BEA8-3383AA56C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00B7DC-8187-4384-8EDD-0BCD82399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A9DCB8E-62C8-4B1F-8FB9-B8B85AC9D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631C609-1B11-4B2E-A80D-3DBA547B2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D174DE-4826-4F2F-813A-ADC44A39D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FE729F5-B15D-4DD3-88C8-2EF8B46D1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4EB5ED3-3A35-40A9-84E6-A5377CDE0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26D318E-4576-4C8A-9ACA-8382F919B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54780BB-AC9C-4732-81D8-EA275D42F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915A21D-9B91-44BE-8D88-D05EC8AB2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0BC76A-5B5C-4679-91DA-ED89ABD2D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258BBBF-1578-4A05-A1A9-EDF74F24D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D431278-97AF-4AB7-82DE-3399B0790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FD17755-A9B1-48E7-86FE-5AD13703E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199D15-5013-4B9F-A8A3-DCA732A68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167313-1A3D-44A9-A37C-1C99EDE2B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0E65D49-72DF-4383-8055-A635E11A0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43978ED-12B9-460A-BB04-587AE0500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207DB50-7710-4972-8013-16103E0F6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5DCE1B6-688E-4D0F-AB3C-ECAE9776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8F32537-0BC6-4AE5-89BE-11ACAB4BD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7174D29-1A56-48C4-A95B-5C53C2EB9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6A8AAC2-1754-4D41-8188-09637257A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6E8AE93-DFFE-4761-A156-E66B0D06C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3FFF58C-E7DB-4CA7-B00E-9A40F30D8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214FA45-13F3-405E-8DE7-9AA5B563B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A66D201-E31A-4A85-98CE-280D2E562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731A2F6-A416-40C4-AC1A-55E332AE2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404066B-0D0A-4000-B9A4-1591EE5F5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2EEDD53-B75B-4CE2-BDC6-76ED09FCA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564E667-36D1-47DD-BDA7-8540154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AD5E2A9-E706-49D8-BE0E-3B9196DC6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36863EE-9710-498D-9604-4869061E1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EEB4329-D4BF-4DBC-A26D-1E39AC50D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D80B716-C0BD-4D25-B566-F7D99B3E3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677C444-54BD-4AFA-AF87-44E179184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8BCBBF6-B926-478B-B79A-098A22A8D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9943CE8-ACFB-49F2-8E88-4C6ED4B9C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782935D-386C-42AA-91CF-5DC1A6ED7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51D14F-6259-4204-BA0C-569DCAC19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54DA852-C793-4E18-BBF3-5472A1FB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070ECB7-9181-4A9A-84C4-3A78C53CA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5C45F72-FC4B-441B-A9D6-88663571C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FF2AAC-5D6D-4212-BA1E-74B8B4FA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FAC220F-B9DE-4AF0-8EF5-A1DB3AB2E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417E806-1CB1-4578-B81C-A5DF310C4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4CAD6A0-E99F-4CCA-8E16-86132DC3D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3F7A96C-D119-4FB7-87A0-63F9C2D74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37E3CC-4D2C-4572-A8E6-41E5C61C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FFA162A-FA5A-47CE-95AE-1CABE84C2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F7B8ABE-DCD7-4AC6-9207-9D324519B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3E67B4-6642-4A81-B68E-8B9BF2DF1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5FB5009-B426-4F2E-AA2D-353A670C9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420287A-513F-4C0B-9350-E314F8AEA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DF46BAB-ED7C-4D06-8B74-B4CE773E4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157BD5A-E73F-430A-94ED-5E54612BE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476FE9C-B862-4920-BF83-C6CFEDF34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8101184-EF31-BA30-1E5D-2C1D3A694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0174" y="2135366"/>
            <a:ext cx="2299760" cy="3982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5BF23B-EF3B-C670-3CEC-8489EFD44088}"/>
              </a:ext>
            </a:extLst>
          </p:cNvPr>
          <p:cNvSpPr txBox="1"/>
          <p:nvPr/>
        </p:nvSpPr>
        <p:spPr>
          <a:xfrm>
            <a:off x="6629080" y="1731493"/>
            <a:ext cx="2939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STANDARD INFRASTRUCTURE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6FD5A6-0211-EAA3-95EE-4EB36FF8F149}"/>
              </a:ext>
            </a:extLst>
          </p:cNvPr>
          <p:cNvSpPr txBox="1"/>
          <p:nvPr/>
        </p:nvSpPr>
        <p:spPr>
          <a:xfrm>
            <a:off x="9700174" y="1512048"/>
            <a:ext cx="1609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SERVERLESS </a:t>
            </a:r>
          </a:p>
          <a:p>
            <a:r>
              <a:rPr lang="en-DE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F2726-E12D-2A82-6FC9-D256119F400F}"/>
              </a:ext>
            </a:extLst>
          </p:cNvPr>
          <p:cNvSpPr txBox="1"/>
          <p:nvPr/>
        </p:nvSpPr>
        <p:spPr>
          <a:xfrm>
            <a:off x="192066" y="3540272"/>
            <a:ext cx="581935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Benefits of Cloud Resources</a:t>
            </a:r>
          </a:p>
          <a:p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Charged exclusively for actual compute time and storage </a:t>
            </a:r>
            <a:br>
              <a:rPr lang="en-DE" dirty="0"/>
            </a:br>
            <a:r>
              <a:rPr lang="en-DE" dirty="0"/>
              <a:t>operations, entirely eliminating idle server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App Engine dynamically scales down to zero instances </a:t>
            </a:r>
            <a:br>
              <a:rPr lang="en-DE" dirty="0"/>
            </a:br>
            <a:r>
              <a:rPr lang="en-DE" dirty="0"/>
              <a:t>during low traffic, and scales up instantly to meet </a:t>
            </a:r>
            <a:br>
              <a:rPr lang="en-DE" dirty="0"/>
            </a:br>
            <a:r>
              <a:rPr lang="en-DE" dirty="0"/>
              <a:t>peak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</a:t>
            </a:r>
            <a:r>
              <a:rPr lang="en-DE" dirty="0"/>
              <a:t>he GCP Projections both assume storage of 30GB and</a:t>
            </a:r>
            <a:br>
              <a:rPr lang="en-DE" dirty="0"/>
            </a:br>
            <a:r>
              <a:rPr lang="en-DE" dirty="0"/>
              <a:t>the price difference is clearly visible.</a:t>
            </a:r>
          </a:p>
        </p:txBody>
      </p:sp>
    </p:spTree>
    <p:extLst>
      <p:ext uri="{BB962C8B-B14F-4D97-AF65-F5344CB8AC3E}">
        <p14:creationId xmlns:p14="http://schemas.microsoft.com/office/powerpoint/2010/main" val="313602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8A14-A29A-5C52-65FB-C1C0F2DC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255" y="1030288"/>
            <a:ext cx="4099947" cy="1035579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rgbClr val="00B0F0"/>
                </a:solidFill>
              </a:rPr>
              <a:t>Backend</a:t>
            </a:r>
            <a:r>
              <a:rPr lang="en-DE" dirty="0"/>
              <a:t>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60554-02A7-BCF2-5F9D-062F38B6E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255" y="2142067"/>
            <a:ext cx="4099947" cy="3649133"/>
          </a:xfrm>
        </p:spPr>
        <p:txBody>
          <a:bodyPr>
            <a:normAutofit/>
          </a:bodyPr>
          <a:lstStyle/>
          <a:p>
            <a:r>
              <a:rPr lang="en-DE" dirty="0"/>
              <a:t>Image 1 shows the user’s info being received and the expiration time chosen (10s,30s,None) based on the user’s choice.</a:t>
            </a:r>
          </a:p>
          <a:p>
            <a:r>
              <a:rPr lang="en-DE" dirty="0"/>
              <a:t>Image 2 shows the route verifying the current time, removing expired messages, checking remaining time of existing messages and updating the browser with the new list.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0645B-D036-6F34-9CCF-5BDC6940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93" y="97083"/>
            <a:ext cx="3169750" cy="3234439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FDF6A-58DF-952D-D076-0538402D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92" y="3522110"/>
            <a:ext cx="4099946" cy="298271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B322C0-9906-B9F6-7157-3B11829BE83A}"/>
              </a:ext>
            </a:extLst>
          </p:cNvPr>
          <p:cNvSpPr txBox="1"/>
          <p:nvPr/>
        </p:nvSpPr>
        <p:spPr>
          <a:xfrm>
            <a:off x="10359025" y="3081403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Image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CAD73-1323-3D36-2B09-C55691C5DD61}"/>
              </a:ext>
            </a:extLst>
          </p:cNvPr>
          <p:cNvSpPr txBox="1"/>
          <p:nvPr/>
        </p:nvSpPr>
        <p:spPr>
          <a:xfrm>
            <a:off x="11210795" y="6225436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192783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47DC-5CA6-7973-4C7A-26BF5A10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8" y="1887255"/>
            <a:ext cx="10875722" cy="993732"/>
          </a:xfrm>
        </p:spPr>
        <p:txBody>
          <a:bodyPr>
            <a:normAutofit/>
          </a:bodyPr>
          <a:lstStyle/>
          <a:p>
            <a:r>
              <a:rPr lang="en-DE" dirty="0"/>
              <a:t>Live </a:t>
            </a:r>
            <a:r>
              <a:rPr lang="en-DE" dirty="0">
                <a:solidFill>
                  <a:srgbClr val="00B0F0"/>
                </a:solidFill>
              </a:rPr>
              <a:t>Cloud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DA3C6-1277-5C7E-8571-13723B0C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8" r="2" b="1824"/>
          <a:stretch>
            <a:fillRect/>
          </a:stretch>
        </p:blipFill>
        <p:spPr>
          <a:xfrm>
            <a:off x="5204228" y="0"/>
            <a:ext cx="6987772" cy="673550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434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4703-F4FC-CB71-C3CE-2BED1262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Future </a:t>
            </a:r>
            <a:r>
              <a:rPr lang="en-DE" dirty="0">
                <a:solidFill>
                  <a:srgbClr val="00B0F0"/>
                </a:solidFill>
              </a:rPr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1A68-ED12-DEE4-01DC-786050A57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>
                <a:solidFill>
                  <a:srgbClr val="00B0F0"/>
                </a:solidFill>
              </a:rPr>
              <a:t>Google Firestore:</a:t>
            </a:r>
            <a:r>
              <a:rPr lang="en-DE" dirty="0"/>
              <a:t> Migrating from the Minimum Viable Phase (MVP) in-memory arrays to a fully managed NoSQL database. This will ensure data persistence across ”scale-to-zero” events while maintaining the 3 euro baseline.</a:t>
            </a:r>
          </a:p>
          <a:p>
            <a:r>
              <a:rPr lang="en-DE" dirty="0">
                <a:solidFill>
                  <a:srgbClr val="00B0F0"/>
                </a:solidFill>
              </a:rPr>
              <a:t>Real-Time Communication:</a:t>
            </a:r>
            <a:r>
              <a:rPr lang="en-DE" dirty="0"/>
              <a:t> Replacing the current HTTP polling mechanism with WebSockets. This will reduce unnecessary API calls to the server and provide instant message delivery for end users.</a:t>
            </a:r>
          </a:p>
          <a:p>
            <a:r>
              <a:rPr lang="en-DE" dirty="0">
                <a:solidFill>
                  <a:srgbClr val="00B0F0"/>
                </a:solidFill>
              </a:rPr>
              <a:t>Identity and Access Management: </a:t>
            </a:r>
            <a:r>
              <a:rPr lang="en-DE" dirty="0"/>
              <a:t>Implementing Firebase authentication to secure endpoints, This requires verified user sessions, preventing unauthorized access and eliminating the risk of user impersonation.</a:t>
            </a:r>
          </a:p>
          <a:p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1465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2A28-4347-C521-7E9B-E199CC27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>
                <a:solidFill>
                  <a:srgbClr val="00B0F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A94F-F549-482A-736D-C5B7BDECD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https://cloud.google.com/products/calculator?dl=CjhDaVJsTnpjeU16Z3laQzA0WXpJekxUUTBOMkl0WVRVMk5pMDROamMyT0dRMlpqZzFZVFVRQVE9PRAXGiQ2OTZBQTA1RC1DMUU2LTRGRUMtQjNBMi1FOTE1MTc1ODMwMjU</a:t>
            </a:r>
            <a:r>
              <a:rPr lang="en-GB" dirty="0"/>
              <a:t>  Serverless architecture Cost estimation (GCP calculator)</a:t>
            </a:r>
          </a:p>
          <a:p>
            <a:r>
              <a:rPr lang="en-GB" dirty="0">
                <a:hlinkClick r:id="rId3"/>
              </a:rPr>
              <a:t>https://cloud.google.com/products/calculator?dl=CjhDaVE0T0dJMk1USTJPUzAyTVRGaUxUUTVNMlV0WVRObU5pMWpOVGc0TmpJeU5EazRaRGNRQVE9PRAOGiRBRTM0OEJCNC1BQTNCLTREMjAtODc4QS1EQTgyQkVENUVGOUE</a:t>
            </a:r>
            <a:r>
              <a:rPr lang="en-GB" dirty="0"/>
              <a:t>. Standard Infrastructure Cost estimation (GCP calculator)</a:t>
            </a:r>
          </a:p>
          <a:p>
            <a:r>
              <a:rPr lang="en-GB" dirty="0">
                <a:hlinkClick r:id="rId4"/>
              </a:rPr>
              <a:t>https://github.com/anirrudhgg/Real-Time_Chat_Application</a:t>
            </a:r>
            <a:r>
              <a:rPr lang="en-GB" dirty="0"/>
              <a:t> (</a:t>
            </a:r>
            <a:r>
              <a:rPr lang="en-GB" dirty="0" err="1"/>
              <a:t>Github</a:t>
            </a:r>
            <a:r>
              <a:rPr lang="en-GB" dirty="0"/>
              <a:t> link)</a:t>
            </a:r>
          </a:p>
          <a:p>
            <a:r>
              <a:rPr lang="en-GB" dirty="0">
                <a:hlinkClick r:id="rId5"/>
              </a:rPr>
              <a:t>https://project-6c2cad9e-c127-49a4-aa1.ey.r.appspot.com/</a:t>
            </a:r>
            <a:r>
              <a:rPr lang="en-GB" dirty="0"/>
              <a:t>. (Live Demo Link)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204980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2487</TotalTime>
  <Words>563</Words>
  <Application>Microsoft Macintosh PowerPoint</Application>
  <PresentationFormat>Widescreen</PresentationFormat>
  <Paragraphs>69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Celestial</vt:lpstr>
      <vt:lpstr>Serverless real-time Communication</vt:lpstr>
      <vt:lpstr>The Problem: The http Bottleneck</vt:lpstr>
      <vt:lpstr>System architecture on google cloud platform</vt:lpstr>
      <vt:lpstr>Computing and data strategy</vt:lpstr>
      <vt:lpstr>Security and Global Delivery</vt:lpstr>
      <vt:lpstr>FINOPS and Cost estimation</vt:lpstr>
      <vt:lpstr>Backend Logic</vt:lpstr>
      <vt:lpstr>Live Cloud Deployment</vt:lpstr>
      <vt:lpstr>Future IMprovements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Anirudh Gopishankar</dc:creator>
  <cp:keywords/>
  <dc:description/>
  <cp:lastModifiedBy>Anirudh Gopishankar</cp:lastModifiedBy>
  <cp:revision>17</cp:revision>
  <dcterms:created xsi:type="dcterms:W3CDTF">2026-06-21T00:19:31Z</dcterms:created>
  <dcterms:modified xsi:type="dcterms:W3CDTF">2026-06-22T17:47:08Z</dcterms:modified>
  <cp:category/>
</cp:coreProperties>
</file>